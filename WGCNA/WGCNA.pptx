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CB"/>
    <a:srgbClr val="00FF00"/>
    <a:srgbClr val="000000"/>
    <a:srgbClr val="40E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6A2A8-DCF6-D435-0A23-5460D08D4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2E9094-E299-342C-4096-DD3DB4112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40152-3411-6ACB-68A5-441BD95CD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61FA4-C310-4372-8618-A7D39138BC67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7A804-3D69-2929-A285-1AF29E1A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D548C-0AF9-C53C-877F-73B4180B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C7D4A-BFC8-46BA-9ADE-7795CD94D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92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0083-230B-6A0B-4F93-28D40297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E2454-9429-72D4-3355-E38C1676E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CC1EF-CBFE-F9A5-7707-96B01A7CB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61FA4-C310-4372-8618-A7D39138BC67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FB166-67C6-81BF-3344-0B1CB6088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D5EA1-2E63-461A-F52C-BAED639F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C7D4A-BFC8-46BA-9ADE-7795CD94D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58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31B3F-6D67-4DC4-0E27-4B2691087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D03B4-5776-7BF6-6611-034B51E51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E94BE-2C34-CBAE-79FF-BB69909CF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61FA4-C310-4372-8618-A7D39138BC67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A1220-A7CA-1730-27A2-E8223E2AF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0C73D-8123-21FC-7492-11B6DC7C7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C7D4A-BFC8-46BA-9ADE-7795CD94D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8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1B724-18B5-4330-6222-030353E73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C0988-0A84-FA63-189C-6795005DCA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0F04E-5758-22A6-9186-0E86054DD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28205-505B-4520-A826-C7420B645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61FA4-C310-4372-8618-A7D39138BC67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6F36B-E11C-5921-18E9-D63F9C0AB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4C6CB-D470-7A1F-BC44-1982D456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C7D4A-BFC8-46BA-9ADE-7795CD94D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17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14B2-715B-2B3E-FFB0-007FB9776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3ADAB-A17E-A827-7E56-EBAE98610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6C0BF-1BBB-49B1-9A2E-5B06B62C5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C20AFD-B3C1-208E-22D8-8616D2FC2E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3B51-A94F-5BE1-1D45-3C450CBF4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C7B6F8-11B0-C876-42A7-17EC587C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61FA4-C310-4372-8618-A7D39138BC67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B18A83-6856-66BD-41B6-FB2D2267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6DA112-828B-7686-A69F-5B7110D9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C7D4A-BFC8-46BA-9ADE-7795CD94D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5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0190-E248-62C3-02F3-A43327CF9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3D9F2A-285F-B5D4-AB22-43EADA0BF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61FA4-C310-4372-8618-A7D39138BC67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363E9-F19C-70CC-D904-0678948CC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EDB4F-DAA3-A28F-0318-BF08FB1F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C7D4A-BFC8-46BA-9ADE-7795CD94D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1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3C25D7-45AD-D37E-CCF6-6892AC08A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61FA4-C310-4372-8618-A7D39138BC67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6E851-980D-C520-CA08-D1598A1EB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D344E-CEF8-CDAE-F50A-C20F5742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C7D4A-BFC8-46BA-9ADE-7795CD94D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5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16DB9-C4BD-510F-DAAA-E08588E8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6F2B1-8B83-25E8-C79F-9B58DF1DC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66E3BC-5FFF-1B38-3FAF-8446A0DF5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9C598-EC40-63E9-30C0-ADEE9C6D7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61FA4-C310-4372-8618-A7D39138BC67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73481-8C9C-3911-F3D0-3440308FF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26C41-22A1-1866-71B1-D80BDE680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C7D4A-BFC8-46BA-9ADE-7795CD94D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57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6B2B-96D2-3A58-7354-5FDDD6A0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B185CA-4AAB-9105-E14E-48472C6C99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AFB6A-D790-B44F-203B-FE2CDF525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A40D6-C02D-A582-FA3B-155BAF58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61FA4-C310-4372-8618-A7D39138BC67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FAC77-3DF0-EB90-02B1-F4A77D584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312D4-BFF1-966E-C49F-5FDB630B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C7D4A-BFC8-46BA-9ADE-7795CD94D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67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EA985-7D03-ABEA-883D-B16AA0DB7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673D1-D2BA-996A-0601-512BEFA7F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39312-AEB6-BE3B-4197-848B0C292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61FA4-C310-4372-8618-A7D39138BC67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046D0-9183-AE21-23A7-FA7467161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A216F-95B3-483D-2529-132C821A8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C7D4A-BFC8-46BA-9ADE-7795CD94D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998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84DD2C-4118-2518-0AEA-8E1C81205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E09E6-8CF6-95AD-1F7D-70FE871FE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EBB5E-A9F4-C197-007F-08FCFCCDA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61FA4-C310-4372-8618-A7D39138BC67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29E33-B4D7-33DE-800B-F0D1C5685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A0EC3-B915-7111-ED47-030A47518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C7D4A-BFC8-46BA-9ADE-7795CD94D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9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DA407-5EF5-38A6-FB65-6E4E13D74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5D9CD-B1FC-6498-CF62-77BDEBD63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94473-EDB9-7200-C363-DE9B3DDA98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61FA4-C310-4372-8618-A7D39138BC67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A9610-AAB8-4157-C357-DA5F0CB31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B2659-D873-5520-08FF-14FB60EEE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C7D4A-BFC8-46BA-9ADE-7795CD94D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04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5208B7A-89D7-F6B7-83E2-66FD7F55C2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200705"/>
              </p:ext>
            </p:extLst>
          </p:nvPr>
        </p:nvGraphicFramePr>
        <p:xfrm>
          <a:off x="273049" y="576038"/>
          <a:ext cx="5411059" cy="4129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829287" imgH="4447903" progId="Acrobat.Document.DC">
                  <p:embed/>
                </p:oleObj>
              </mc:Choice>
              <mc:Fallback>
                <p:oleObj name="Acrobat Document" r:id="rId2" imgW="5829287" imgH="4447903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3049" y="576038"/>
                        <a:ext cx="5411059" cy="41290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A951553-D6D9-D730-305D-8051EDEE7C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196233"/>
              </p:ext>
            </p:extLst>
          </p:nvPr>
        </p:nvGraphicFramePr>
        <p:xfrm>
          <a:off x="6333698" y="576038"/>
          <a:ext cx="5099222" cy="3891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5829287" imgH="4447903" progId="Acrobat.Document.DC">
                  <p:embed/>
                </p:oleObj>
              </mc:Choice>
              <mc:Fallback>
                <p:oleObj name="Acrobat Document" r:id="rId4" imgW="5829287" imgH="4447903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33698" y="576038"/>
                        <a:ext cx="5099222" cy="38910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1802980-81B3-29D0-513D-484200BD7501}"/>
              </a:ext>
            </a:extLst>
          </p:cNvPr>
          <p:cNvSpPr txBox="1"/>
          <p:nvPr/>
        </p:nvSpPr>
        <p:spPr>
          <a:xfrm>
            <a:off x="729049" y="5177481"/>
            <a:ext cx="10626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/>
              <a:t>Clustering of </a:t>
            </a:r>
            <a:r>
              <a:rPr lang="fr-CH" sz="1400" dirty="0" err="1"/>
              <a:t>samples</a:t>
            </a:r>
            <a:r>
              <a:rPr lang="fr-CH" sz="1400" dirty="0"/>
              <a:t> </a:t>
            </a:r>
            <a:r>
              <a:rPr lang="fr-CH" sz="1400" dirty="0" err="1"/>
              <a:t>indicates</a:t>
            </a:r>
            <a:r>
              <a:rPr lang="fr-CH" sz="1400" dirty="0"/>
              <a:t> one </a:t>
            </a:r>
            <a:r>
              <a:rPr lang="fr-CH" sz="1400" dirty="0" err="1"/>
              <a:t>outlier</a:t>
            </a:r>
            <a:r>
              <a:rPr lang="fr-CH" sz="1400" dirty="0"/>
              <a:t> i.e. ribaq24, </a:t>
            </a:r>
            <a:r>
              <a:rPr lang="fr-CH" sz="1400" dirty="0" err="1"/>
              <a:t>potentially</a:t>
            </a:r>
            <a:r>
              <a:rPr lang="fr-CH" sz="1400" dirty="0"/>
              <a:t> a </a:t>
            </a:r>
            <a:r>
              <a:rPr lang="fr-CH" sz="1400" dirty="0" err="1"/>
              <a:t>pick’s</a:t>
            </a:r>
            <a:r>
              <a:rPr lang="fr-CH" sz="1400" dirty="0"/>
              <a:t> patient. But </a:t>
            </a:r>
            <a:r>
              <a:rPr lang="fr-CH" sz="1400" dirty="0" err="1"/>
              <a:t>we</a:t>
            </a:r>
            <a:r>
              <a:rPr lang="fr-CH" sz="1400" dirty="0"/>
              <a:t> </a:t>
            </a:r>
            <a:r>
              <a:rPr lang="fr-CH" sz="1400" dirty="0" err="1"/>
              <a:t>processed</a:t>
            </a:r>
            <a:r>
              <a:rPr lang="fr-CH" sz="1400" dirty="0"/>
              <a:t> </a:t>
            </a:r>
            <a:r>
              <a:rPr lang="fr-CH" sz="1400" dirty="0" err="1"/>
              <a:t>with</a:t>
            </a:r>
            <a:r>
              <a:rPr lang="fr-CH" sz="1400" dirty="0"/>
              <a:t> the </a:t>
            </a:r>
            <a:r>
              <a:rPr lang="fr-CH" sz="1400" dirty="0" err="1"/>
              <a:t>outlier</a:t>
            </a:r>
            <a:r>
              <a:rPr lang="fr-CH" sz="1400" dirty="0"/>
              <a:t>. Due to the </a:t>
            </a:r>
            <a:r>
              <a:rPr lang="fr-CH" sz="1400" dirty="0" err="1"/>
              <a:t>outlier</a:t>
            </a:r>
            <a:r>
              <a:rPr lang="fr-CH" sz="1400" dirty="0"/>
              <a:t> </a:t>
            </a:r>
            <a:r>
              <a:rPr lang="fr-CH" sz="1400" dirty="0" err="1"/>
              <a:t>we</a:t>
            </a:r>
            <a:r>
              <a:rPr lang="fr-CH" sz="1400" dirty="0"/>
              <a:t> have the </a:t>
            </a:r>
            <a:r>
              <a:rPr lang="fr-CH" sz="1400" dirty="0" err="1"/>
              <a:t>scale</a:t>
            </a:r>
            <a:r>
              <a:rPr lang="fr-CH" sz="1400" dirty="0"/>
              <a:t> for the </a:t>
            </a:r>
            <a:r>
              <a:rPr lang="fr-CH" sz="1400" dirty="0" err="1"/>
              <a:t>topology</a:t>
            </a:r>
            <a:r>
              <a:rPr lang="fr-CH" sz="1400" dirty="0"/>
              <a:t> model </a:t>
            </a:r>
            <a:r>
              <a:rPr lang="fr-CH" sz="1400" dirty="0" err="1"/>
              <a:t>reaches</a:t>
            </a:r>
            <a:r>
              <a:rPr lang="fr-CH" sz="1400" dirty="0"/>
              <a:t> a high </a:t>
            </a:r>
            <a:r>
              <a:rPr lang="fr-CH" sz="1400" dirty="0" err="1"/>
              <a:t>signed</a:t>
            </a:r>
            <a:r>
              <a:rPr lang="fr-CH" sz="1400" dirty="0"/>
              <a:t> R2, </a:t>
            </a:r>
            <a:r>
              <a:rPr lang="fr-CH" sz="1400" dirty="0" err="1"/>
              <a:t>hence</a:t>
            </a:r>
            <a:r>
              <a:rPr lang="fr-CH" sz="1400" dirty="0"/>
              <a:t> </a:t>
            </a:r>
            <a:r>
              <a:rPr lang="fr-CH" sz="1400" dirty="0" err="1"/>
              <a:t>we</a:t>
            </a:r>
            <a:r>
              <a:rPr lang="fr-CH" sz="1400" dirty="0"/>
              <a:t> have to use 16 as the </a:t>
            </a:r>
            <a:r>
              <a:rPr lang="fr-CH" sz="1400" dirty="0" err="1"/>
              <a:t>scale</a:t>
            </a:r>
            <a:r>
              <a:rPr lang="fr-CH" sz="1400" dirty="0"/>
              <a:t> for </a:t>
            </a:r>
            <a:r>
              <a:rPr lang="fr-CH" sz="1400" dirty="0" err="1"/>
              <a:t>topology</a:t>
            </a:r>
            <a:r>
              <a:rPr lang="fr-CH" sz="1400" dirty="0"/>
              <a:t>. 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7547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84F38E3-B65D-694A-8B61-DFC29E7A7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349926"/>
              </p:ext>
            </p:extLst>
          </p:nvPr>
        </p:nvGraphicFramePr>
        <p:xfrm>
          <a:off x="2260987" y="0"/>
          <a:ext cx="6802694" cy="5190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829287" imgH="4447903" progId="Acrobat.Document.DC">
                  <p:embed/>
                </p:oleObj>
              </mc:Choice>
              <mc:Fallback>
                <p:oleObj name="Acrobat Document" r:id="rId2" imgW="5829287" imgH="4447903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60987" y="0"/>
                        <a:ext cx="6802694" cy="5190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A6E5FC-51F5-15DD-F53E-6D76EA09F7DE}"/>
              </a:ext>
            </a:extLst>
          </p:cNvPr>
          <p:cNvSpPr/>
          <p:nvPr/>
        </p:nvSpPr>
        <p:spPr>
          <a:xfrm>
            <a:off x="5393724" y="1896761"/>
            <a:ext cx="433957" cy="1927654"/>
          </a:xfrm>
          <a:prstGeom prst="roundRect">
            <a:avLst/>
          </a:prstGeom>
          <a:solidFill>
            <a:srgbClr val="40E0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1200" dirty="0">
                <a:solidFill>
                  <a:schemeClr val="tx1"/>
                </a:solidFill>
              </a:rPr>
              <a:t>M2</a:t>
            </a: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A3641-018A-78F6-D29B-46DA523DD2F6}"/>
              </a:ext>
            </a:extLst>
          </p:cNvPr>
          <p:cNvSpPr txBox="1"/>
          <p:nvPr/>
        </p:nvSpPr>
        <p:spPr>
          <a:xfrm rot="16200000">
            <a:off x="4967936" y="2830481"/>
            <a:ext cx="1285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 err="1"/>
              <a:t>Mitochondrion</a:t>
            </a:r>
            <a:endParaRPr lang="en-US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986155-C47C-E33E-ECC9-5A7BA8255B1C}"/>
              </a:ext>
            </a:extLst>
          </p:cNvPr>
          <p:cNvSpPr/>
          <p:nvPr/>
        </p:nvSpPr>
        <p:spPr>
          <a:xfrm>
            <a:off x="7498491" y="1896761"/>
            <a:ext cx="433957" cy="1927654"/>
          </a:xfrm>
          <a:prstGeom prst="roundRect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1200" dirty="0">
                <a:solidFill>
                  <a:schemeClr val="bg1"/>
                </a:solidFill>
              </a:rPr>
              <a:t>M3</a:t>
            </a: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F8FFD0-52B7-9317-EBBC-E71B539641E1}"/>
              </a:ext>
            </a:extLst>
          </p:cNvPr>
          <p:cNvSpPr txBox="1"/>
          <p:nvPr/>
        </p:nvSpPr>
        <p:spPr>
          <a:xfrm rot="16200000">
            <a:off x="7072703" y="2830481"/>
            <a:ext cx="1285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Microtubule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326E76-F11F-8F57-F58E-A50C9BB95A72}"/>
              </a:ext>
            </a:extLst>
          </p:cNvPr>
          <p:cNvSpPr/>
          <p:nvPr/>
        </p:nvSpPr>
        <p:spPr>
          <a:xfrm>
            <a:off x="6750908" y="1896761"/>
            <a:ext cx="433957" cy="1927654"/>
          </a:xfrm>
          <a:prstGeom prst="round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1200" dirty="0">
                <a:solidFill>
                  <a:schemeClr val="tx1"/>
                </a:solidFill>
              </a:rPr>
              <a:t>M1</a:t>
            </a: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E6B816-ABA4-232F-9933-3726C0B654C3}"/>
              </a:ext>
            </a:extLst>
          </p:cNvPr>
          <p:cNvSpPr txBox="1"/>
          <p:nvPr/>
        </p:nvSpPr>
        <p:spPr>
          <a:xfrm rot="16200000">
            <a:off x="6325120" y="2722760"/>
            <a:ext cx="1285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 err="1"/>
              <a:t>Endoplasmic</a:t>
            </a:r>
            <a:r>
              <a:rPr lang="fr-CH" sz="1400" dirty="0"/>
              <a:t> </a:t>
            </a:r>
            <a:r>
              <a:rPr lang="fr-CH" sz="1400" dirty="0" err="1"/>
              <a:t>reticulum</a:t>
            </a:r>
            <a:endParaRPr lang="en-US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6D3BCC0-E996-148B-77DA-185FC44DF8E1}"/>
              </a:ext>
            </a:extLst>
          </p:cNvPr>
          <p:cNvSpPr/>
          <p:nvPr/>
        </p:nvSpPr>
        <p:spPr>
          <a:xfrm>
            <a:off x="4763445" y="1896761"/>
            <a:ext cx="433957" cy="1927654"/>
          </a:xfrm>
          <a:prstGeom prst="roundRect">
            <a:avLst/>
          </a:prstGeom>
          <a:solidFill>
            <a:srgbClr val="FFC0C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1200" dirty="0">
                <a:solidFill>
                  <a:schemeClr val="tx1"/>
                </a:solidFill>
              </a:rPr>
              <a:t>M4</a:t>
            </a: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fr-CH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DCF922-347B-5DB4-B5F0-183E908FF0EC}"/>
              </a:ext>
            </a:extLst>
          </p:cNvPr>
          <p:cNvSpPr txBox="1"/>
          <p:nvPr/>
        </p:nvSpPr>
        <p:spPr>
          <a:xfrm rot="16200000">
            <a:off x="4337657" y="2768927"/>
            <a:ext cx="12855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100" dirty="0"/>
              <a:t>Trivalent </a:t>
            </a:r>
            <a:r>
              <a:rPr lang="fr-CH" sz="1100" dirty="0" err="1"/>
              <a:t>inorganic</a:t>
            </a:r>
            <a:r>
              <a:rPr lang="fr-CH" sz="1100" dirty="0"/>
              <a:t> cation transport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B5B906-001B-1C57-099B-9F0991CFDA05}"/>
              </a:ext>
            </a:extLst>
          </p:cNvPr>
          <p:cNvSpPr txBox="1"/>
          <p:nvPr/>
        </p:nvSpPr>
        <p:spPr>
          <a:xfrm>
            <a:off x="729049" y="5177481"/>
            <a:ext cx="10626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/>
              <a:t>The clustering </a:t>
            </a:r>
            <a:r>
              <a:rPr lang="fr-CH" sz="1400" dirty="0" err="1"/>
              <a:t>reveals</a:t>
            </a:r>
            <a:r>
              <a:rPr lang="fr-CH" sz="1400" dirty="0"/>
              <a:t> 4 modules as </a:t>
            </a:r>
            <a:r>
              <a:rPr lang="fr-CH" sz="1400" dirty="0" err="1"/>
              <a:t>represented</a:t>
            </a:r>
            <a:r>
              <a:rPr lang="fr-CH" sz="1400" dirty="0"/>
              <a:t> in the figure. </a:t>
            </a:r>
            <a:r>
              <a:rPr lang="fr-CH" sz="1400" dirty="0" err="1"/>
              <a:t>We</a:t>
            </a:r>
            <a:r>
              <a:rPr lang="fr-CH" sz="1400" dirty="0"/>
              <a:t> </a:t>
            </a:r>
            <a:r>
              <a:rPr lang="fr-CH" sz="1400" dirty="0" err="1"/>
              <a:t>should</a:t>
            </a:r>
            <a:r>
              <a:rPr lang="fr-CH" sz="1400" dirty="0"/>
              <a:t> not </a:t>
            </a:r>
            <a:r>
              <a:rPr lang="fr-CH" sz="1400" dirty="0" err="1"/>
              <a:t>consider</a:t>
            </a:r>
            <a:r>
              <a:rPr lang="fr-CH" sz="1400" dirty="0"/>
              <a:t> the </a:t>
            </a:r>
            <a:r>
              <a:rPr lang="fr-CH" sz="1400" dirty="0" err="1"/>
              <a:t>grey</a:t>
            </a:r>
            <a:r>
              <a:rPr lang="fr-CH" sz="1400" dirty="0"/>
              <a:t> module as </a:t>
            </a:r>
            <a:r>
              <a:rPr lang="fr-CH" sz="1400" dirty="0" err="1"/>
              <a:t>it</a:t>
            </a:r>
            <a:r>
              <a:rPr lang="fr-CH" sz="1400" dirty="0"/>
              <a:t> </a:t>
            </a:r>
            <a:r>
              <a:rPr lang="fr-CH" sz="1400" dirty="0" err="1"/>
              <a:t>is</a:t>
            </a:r>
            <a:r>
              <a:rPr lang="fr-CH" sz="1400" dirty="0"/>
              <a:t> </a:t>
            </a:r>
            <a:r>
              <a:rPr lang="fr-CH" sz="1400" dirty="0" err="1"/>
              <a:t>denoted</a:t>
            </a:r>
            <a:r>
              <a:rPr lang="fr-CH" sz="1400" dirty="0"/>
              <a:t> for </a:t>
            </a:r>
            <a:r>
              <a:rPr lang="fr-CH" sz="1400" dirty="0" err="1"/>
              <a:t>unassigned</a:t>
            </a:r>
            <a:r>
              <a:rPr lang="fr-CH" sz="1400" dirty="0"/>
              <a:t> module </a:t>
            </a:r>
            <a:r>
              <a:rPr lang="fr-CH" sz="1400" dirty="0" err="1"/>
              <a:t>genes</a:t>
            </a:r>
            <a:r>
              <a:rPr lang="fr-CH" sz="1400" dirty="0"/>
              <a:t>, </a:t>
            </a:r>
            <a:r>
              <a:rPr lang="fr-CH" sz="1400" dirty="0" err="1"/>
              <a:t>so</a:t>
            </a:r>
            <a:r>
              <a:rPr lang="fr-CH" sz="1400" dirty="0"/>
              <a:t> </a:t>
            </a:r>
            <a:r>
              <a:rPr lang="fr-CH" sz="1400" dirty="0" err="1"/>
              <a:t>we</a:t>
            </a:r>
            <a:r>
              <a:rPr lang="fr-CH" sz="1400" dirty="0"/>
              <a:t> have to </a:t>
            </a:r>
            <a:r>
              <a:rPr lang="fr-CH" sz="1400" dirty="0" err="1"/>
              <a:t>eliminate</a:t>
            </a:r>
            <a:r>
              <a:rPr lang="fr-CH" sz="1400" dirty="0"/>
              <a:t> the </a:t>
            </a:r>
            <a:r>
              <a:rPr lang="fr-CH" sz="1400" dirty="0" err="1"/>
              <a:t>grey</a:t>
            </a:r>
            <a:r>
              <a:rPr lang="fr-CH" sz="1400" dirty="0"/>
              <a:t> module </a:t>
            </a:r>
            <a:r>
              <a:rPr lang="fr-CH" sz="1400" dirty="0" err="1"/>
              <a:t>from</a:t>
            </a:r>
            <a:r>
              <a:rPr lang="fr-CH" sz="1400" dirty="0"/>
              <a:t> the </a:t>
            </a:r>
            <a:r>
              <a:rPr lang="fr-CH" sz="1400" dirty="0" err="1"/>
              <a:t>analysis</a:t>
            </a:r>
            <a:r>
              <a:rPr lang="fr-CH" sz="1400" dirty="0"/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66336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E81D2B3-5094-CF9D-4259-1E19FD4043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994400"/>
              </p:ext>
            </p:extLst>
          </p:nvPr>
        </p:nvGraphicFramePr>
        <p:xfrm>
          <a:off x="2267550" y="221736"/>
          <a:ext cx="6579887" cy="5020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829287" imgH="4447903" progId="Acrobat.Document.DC">
                  <p:embed/>
                </p:oleObj>
              </mc:Choice>
              <mc:Fallback>
                <p:oleObj name="Acrobat Document" r:id="rId2" imgW="5829287" imgH="4447903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67550" y="221736"/>
                        <a:ext cx="6579887" cy="50209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06239E0-AE95-CFBE-2140-9A6A438E8408}"/>
              </a:ext>
            </a:extLst>
          </p:cNvPr>
          <p:cNvSpPr txBox="1"/>
          <p:nvPr/>
        </p:nvSpPr>
        <p:spPr>
          <a:xfrm>
            <a:off x="782595" y="5430795"/>
            <a:ext cx="10626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 err="1"/>
              <a:t>Representation</a:t>
            </a:r>
            <a:r>
              <a:rPr lang="fr-CH" sz="1400" dirty="0"/>
              <a:t> of </a:t>
            </a:r>
            <a:r>
              <a:rPr lang="fr-CH" sz="1400" dirty="0" err="1"/>
              <a:t>eigengene</a:t>
            </a:r>
            <a:r>
              <a:rPr lang="fr-CH" sz="1400" dirty="0"/>
              <a:t> values </a:t>
            </a:r>
            <a:r>
              <a:rPr lang="fr-CH" sz="1400" dirty="0" err="1"/>
              <a:t>with</a:t>
            </a:r>
            <a:r>
              <a:rPr lang="fr-CH" sz="1400" dirty="0"/>
              <a:t> the </a:t>
            </a:r>
            <a:r>
              <a:rPr lang="fr-CH" sz="1400" dirty="0" err="1"/>
              <a:t>pathology</a:t>
            </a:r>
            <a:r>
              <a:rPr lang="fr-CH" sz="1400" dirty="0"/>
              <a:t>. In the </a:t>
            </a:r>
            <a:r>
              <a:rPr lang="fr-CH" sz="1400" dirty="0" err="1"/>
              <a:t>mitochondria</a:t>
            </a:r>
            <a:r>
              <a:rPr lang="fr-CH" sz="1400" dirty="0"/>
              <a:t> module the PICK </a:t>
            </a:r>
            <a:r>
              <a:rPr lang="fr-CH" sz="1400" dirty="0" err="1"/>
              <a:t>disease</a:t>
            </a:r>
            <a:r>
              <a:rPr lang="fr-CH" sz="1400" dirty="0"/>
              <a:t> shows </a:t>
            </a:r>
            <a:r>
              <a:rPr lang="fr-CH" sz="1400" dirty="0" err="1"/>
              <a:t>higher</a:t>
            </a:r>
            <a:r>
              <a:rPr lang="fr-CH" sz="1400" dirty="0"/>
              <a:t> expression </a:t>
            </a:r>
            <a:r>
              <a:rPr lang="fr-CH" sz="1400" dirty="0" err="1"/>
              <a:t>whereas</a:t>
            </a:r>
            <a:r>
              <a:rPr lang="fr-CH" sz="1400" dirty="0"/>
              <a:t> for microtubule the expression </a:t>
            </a:r>
            <a:r>
              <a:rPr lang="fr-CH" sz="1400" dirty="0" err="1"/>
              <a:t>is</a:t>
            </a:r>
            <a:r>
              <a:rPr lang="fr-CH" sz="1400" dirty="0"/>
              <a:t> </a:t>
            </a:r>
            <a:r>
              <a:rPr lang="fr-CH" sz="1400" dirty="0" err="1"/>
              <a:t>decreased</a:t>
            </a:r>
            <a:r>
              <a:rPr lang="fr-CH" sz="1400" dirty="0"/>
              <a:t> in PICK as </a:t>
            </a:r>
            <a:r>
              <a:rPr lang="fr-CH" sz="1400" dirty="0" err="1"/>
              <a:t>comapred</a:t>
            </a:r>
            <a:r>
              <a:rPr lang="fr-CH" sz="1400" dirty="0"/>
              <a:t> to PSP.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37271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A8B7840-3A9F-AD7C-DB8C-05804FF8BD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26903"/>
              </p:ext>
            </p:extLst>
          </p:nvPr>
        </p:nvGraphicFramePr>
        <p:xfrm>
          <a:off x="2168567" y="542494"/>
          <a:ext cx="7506773" cy="4157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486196" imgH="3038339" progId="Acrobat.Document.DC">
                  <p:embed/>
                </p:oleObj>
              </mc:Choice>
              <mc:Fallback>
                <p:oleObj name="Acrobat Document" r:id="rId2" imgW="5486196" imgH="3038339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68567" y="542494"/>
                        <a:ext cx="7506773" cy="41573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53C5397-F4A0-5F57-ECCA-5EFDE6CE6D6F}"/>
              </a:ext>
            </a:extLst>
          </p:cNvPr>
          <p:cNvSpPr txBox="1"/>
          <p:nvPr/>
        </p:nvSpPr>
        <p:spPr>
          <a:xfrm>
            <a:off x="735227" y="4763530"/>
            <a:ext cx="10626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/>
              <a:t>The </a:t>
            </a:r>
            <a:r>
              <a:rPr lang="fr-CH" sz="1400" dirty="0" err="1"/>
              <a:t>correlation</a:t>
            </a:r>
            <a:r>
              <a:rPr lang="fr-CH" sz="1400" dirty="0"/>
              <a:t> of modules </a:t>
            </a:r>
            <a:r>
              <a:rPr lang="fr-CH" sz="1400" dirty="0" err="1"/>
              <a:t>with</a:t>
            </a:r>
            <a:r>
              <a:rPr lang="fr-CH" sz="1400" dirty="0"/>
              <a:t> the </a:t>
            </a:r>
            <a:r>
              <a:rPr lang="fr-CH" sz="1400" dirty="0" err="1"/>
              <a:t>histological</a:t>
            </a:r>
            <a:r>
              <a:rPr lang="fr-CH" sz="1400" dirty="0"/>
              <a:t> components shows </a:t>
            </a:r>
            <a:r>
              <a:rPr lang="fr-CH" sz="1400" dirty="0" err="1"/>
              <a:t>that</a:t>
            </a:r>
            <a:r>
              <a:rPr lang="fr-CH" sz="1400" dirty="0"/>
              <a:t> the </a:t>
            </a:r>
            <a:r>
              <a:rPr lang="fr-CH" sz="1400" dirty="0" err="1"/>
              <a:t>Mitochondria</a:t>
            </a:r>
            <a:r>
              <a:rPr lang="fr-CH" sz="1400" dirty="0"/>
              <a:t> module </a:t>
            </a:r>
            <a:r>
              <a:rPr lang="fr-CH" sz="1400" dirty="0" err="1"/>
              <a:t>positively</a:t>
            </a:r>
            <a:r>
              <a:rPr lang="fr-CH" sz="1400" dirty="0"/>
              <a:t> </a:t>
            </a:r>
            <a:r>
              <a:rPr lang="fr-CH" sz="1400" dirty="0" err="1"/>
              <a:t>correlates</a:t>
            </a:r>
            <a:r>
              <a:rPr lang="fr-CH" sz="1400" dirty="0"/>
              <a:t> </a:t>
            </a:r>
            <a:r>
              <a:rPr lang="fr-CH" sz="1400" dirty="0" err="1"/>
              <a:t>with</a:t>
            </a:r>
            <a:r>
              <a:rPr lang="fr-CH" sz="1400" dirty="0"/>
              <a:t> the </a:t>
            </a:r>
            <a:r>
              <a:rPr lang="fr-CH" sz="1400" dirty="0" err="1"/>
              <a:t>Coverage</a:t>
            </a:r>
            <a:r>
              <a:rPr lang="fr-CH" sz="1400" dirty="0"/>
              <a:t>% of AT100, </a:t>
            </a:r>
            <a:r>
              <a:rPr lang="fr-CH" sz="1400" dirty="0" err="1"/>
              <a:t>that</a:t>
            </a:r>
            <a:r>
              <a:rPr lang="fr-CH" sz="1400" dirty="0"/>
              <a:t> </a:t>
            </a:r>
            <a:r>
              <a:rPr lang="fr-CH" sz="1400" dirty="0" err="1"/>
              <a:t>goes</a:t>
            </a:r>
            <a:r>
              <a:rPr lang="fr-CH" sz="1400" dirty="0"/>
              <a:t> </a:t>
            </a:r>
            <a:r>
              <a:rPr lang="fr-CH" sz="1400" dirty="0" err="1"/>
              <a:t>with</a:t>
            </a:r>
            <a:r>
              <a:rPr lang="fr-CH" sz="1400" dirty="0"/>
              <a:t> </a:t>
            </a:r>
            <a:r>
              <a:rPr lang="fr-CH" sz="1400" dirty="0" err="1"/>
              <a:t>our</a:t>
            </a:r>
            <a:r>
              <a:rPr lang="fr-CH" sz="1400" dirty="0"/>
              <a:t> </a:t>
            </a:r>
            <a:r>
              <a:rPr lang="fr-CH" sz="1400" dirty="0" err="1"/>
              <a:t>hypothesis</a:t>
            </a:r>
            <a:r>
              <a:rPr lang="fr-CH" sz="1400" dirty="0"/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52814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3008062-CD3C-93FA-EE0D-3CC8492BC6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818836"/>
              </p:ext>
            </p:extLst>
          </p:nvPr>
        </p:nvGraphicFramePr>
        <p:xfrm>
          <a:off x="1986288" y="216185"/>
          <a:ext cx="8128000" cy="5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16458996" imgH="10287000" progId="Acrobat.Document.DC">
                  <p:embed/>
                </p:oleObj>
              </mc:Choice>
              <mc:Fallback>
                <p:oleObj name="Acrobat Document" r:id="rId2" imgW="16458996" imgH="1028700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86288" y="216185"/>
                        <a:ext cx="8128000" cy="50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53008AD-03E8-CE92-C4FE-D49FBF24F67D}"/>
              </a:ext>
            </a:extLst>
          </p:cNvPr>
          <p:cNvSpPr txBox="1"/>
          <p:nvPr/>
        </p:nvSpPr>
        <p:spPr>
          <a:xfrm>
            <a:off x="736883" y="5596511"/>
            <a:ext cx="10626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 err="1"/>
              <a:t>Cell</a:t>
            </a:r>
            <a:r>
              <a:rPr lang="fr-CH" sz="1400" dirty="0"/>
              <a:t> type </a:t>
            </a:r>
            <a:r>
              <a:rPr lang="fr-CH" sz="1400" dirty="0" err="1"/>
              <a:t>enrichment</a:t>
            </a:r>
            <a:r>
              <a:rPr lang="fr-CH" sz="1400" dirty="0"/>
              <a:t> of modules. </a:t>
            </a:r>
            <a:r>
              <a:rPr lang="fr-CH" sz="1400" dirty="0" err="1"/>
              <a:t>Mitochondria</a:t>
            </a:r>
            <a:r>
              <a:rPr lang="fr-CH" sz="1400" dirty="0"/>
              <a:t> module cross the </a:t>
            </a:r>
            <a:r>
              <a:rPr lang="fr-CH" sz="1400" dirty="0" err="1"/>
              <a:t>threshold</a:t>
            </a:r>
            <a:r>
              <a:rPr lang="fr-CH" sz="1400" dirty="0"/>
              <a:t> of –</a:t>
            </a:r>
            <a:r>
              <a:rPr lang="fr-CH" sz="1400" dirty="0" err="1"/>
              <a:t>logFDR</a:t>
            </a:r>
            <a:r>
              <a:rPr lang="fr-CH" sz="1400" dirty="0"/>
              <a:t> score for Astrocytes and </a:t>
            </a:r>
            <a:r>
              <a:rPr lang="fr-CH" sz="1400" dirty="0" err="1"/>
              <a:t>Endothelial</a:t>
            </a:r>
            <a:r>
              <a:rPr lang="fr-CH" sz="1400" dirty="0"/>
              <a:t> </a:t>
            </a:r>
            <a:r>
              <a:rPr lang="fr-CH" sz="1400" dirty="0" err="1"/>
              <a:t>cells</a:t>
            </a:r>
            <a:r>
              <a:rPr lang="fr-CH" sz="1400" dirty="0"/>
              <a:t>. Microtubule module </a:t>
            </a:r>
            <a:r>
              <a:rPr lang="fr-CH" sz="1400" dirty="0" err="1"/>
              <a:t>correlates</a:t>
            </a:r>
            <a:r>
              <a:rPr lang="fr-CH" sz="1400" dirty="0"/>
              <a:t> </a:t>
            </a:r>
            <a:r>
              <a:rPr lang="fr-CH" sz="1400" dirty="0" err="1"/>
              <a:t>with</a:t>
            </a:r>
            <a:r>
              <a:rPr lang="fr-CH" sz="1400" dirty="0"/>
              <a:t> the </a:t>
            </a:r>
            <a:r>
              <a:rPr lang="fr-CH" sz="1400" dirty="0" err="1"/>
              <a:t>Neuron</a:t>
            </a:r>
            <a:r>
              <a:rPr lang="fr-CH" sz="1400" dirty="0"/>
              <a:t> and oligodendrocytes. Cation transport </a:t>
            </a:r>
            <a:r>
              <a:rPr lang="fr-CH" sz="1400" dirty="0" err="1"/>
              <a:t>barely</a:t>
            </a:r>
            <a:r>
              <a:rPr lang="fr-CH" sz="1400" dirty="0"/>
              <a:t> crosses the </a:t>
            </a:r>
            <a:r>
              <a:rPr lang="fr-CH" sz="1400" dirty="0" err="1"/>
              <a:t>threshold</a:t>
            </a:r>
            <a:r>
              <a:rPr lang="fr-CH" sz="1400" dirty="0"/>
              <a:t> and </a:t>
            </a:r>
            <a:r>
              <a:rPr lang="fr-CH" sz="1400" dirty="0" err="1"/>
              <a:t>correlates</a:t>
            </a:r>
            <a:r>
              <a:rPr lang="fr-CH" sz="1400" dirty="0"/>
              <a:t> </a:t>
            </a:r>
            <a:r>
              <a:rPr lang="fr-CH" sz="1400" dirty="0" err="1"/>
              <a:t>with</a:t>
            </a:r>
            <a:r>
              <a:rPr lang="fr-CH" sz="1400" dirty="0"/>
              <a:t> the </a:t>
            </a:r>
            <a:r>
              <a:rPr lang="fr-CH" sz="1400" dirty="0" err="1"/>
              <a:t>Neuron</a:t>
            </a:r>
            <a:r>
              <a:rPr lang="fr-CH" sz="1400" dirty="0"/>
              <a:t> </a:t>
            </a:r>
            <a:r>
              <a:rPr lang="fr-CH" sz="1400" dirty="0" err="1"/>
              <a:t>cells</a:t>
            </a:r>
            <a:r>
              <a:rPr lang="fr-CH" sz="1400" dirty="0"/>
              <a:t>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1482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reworks exploding in the dark&#10;&#10;Description automatically generated">
            <a:extLst>
              <a:ext uri="{FF2B5EF4-FFF2-40B4-BE49-F238E27FC236}">
                <a16:creationId xmlns:a16="http://schemas.microsoft.com/office/drawing/2014/main" id="{C131C93A-EF5B-F132-2374-60EC37124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29" y="199160"/>
            <a:ext cx="12192000" cy="45905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7FF667-48EC-4D98-9484-75416DDAD43B}"/>
              </a:ext>
            </a:extLst>
          </p:cNvPr>
          <p:cNvSpPr txBox="1"/>
          <p:nvPr/>
        </p:nvSpPr>
        <p:spPr>
          <a:xfrm>
            <a:off x="736883" y="5596511"/>
            <a:ext cx="10773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/>
              <a:t>Mitochondrial hub </a:t>
            </a:r>
            <a:r>
              <a:rPr lang="fr-CH" sz="1400" dirty="0" err="1"/>
              <a:t>genes</a:t>
            </a:r>
            <a:r>
              <a:rPr lang="fr-CH" sz="1400" dirty="0"/>
              <a:t>. </a:t>
            </a:r>
            <a:r>
              <a:rPr lang="fr-CH" sz="1400" dirty="0" err="1"/>
              <a:t>Here</a:t>
            </a:r>
            <a:r>
              <a:rPr lang="fr-CH" sz="1400" dirty="0"/>
              <a:t> the big </a:t>
            </a:r>
            <a:r>
              <a:rPr lang="fr-CH" sz="1400" dirty="0" err="1"/>
              <a:t>circle</a:t>
            </a:r>
            <a:r>
              <a:rPr lang="fr-CH" sz="1400" dirty="0"/>
              <a:t> in green </a:t>
            </a:r>
            <a:r>
              <a:rPr lang="fr-CH" sz="1400" dirty="0" err="1"/>
              <a:t>indicate</a:t>
            </a:r>
            <a:r>
              <a:rPr lang="fr-CH" sz="1400" dirty="0"/>
              <a:t> the top 10 hub </a:t>
            </a:r>
            <a:r>
              <a:rPr lang="fr-CH" sz="1400" dirty="0" err="1"/>
              <a:t>genes</a:t>
            </a:r>
            <a:r>
              <a:rPr lang="fr-CH" sz="1400" dirty="0"/>
              <a:t>. The </a:t>
            </a:r>
            <a:r>
              <a:rPr lang="fr-CH" sz="1400" dirty="0" err="1"/>
              <a:t>ones</a:t>
            </a:r>
            <a:r>
              <a:rPr lang="fr-CH" sz="1400" dirty="0"/>
              <a:t> in the </a:t>
            </a:r>
            <a:r>
              <a:rPr lang="fr-CH" sz="1400" dirty="0" err="1"/>
              <a:t>yellow</a:t>
            </a:r>
            <a:r>
              <a:rPr lang="fr-CH" sz="1400" dirty="0"/>
              <a:t> </a:t>
            </a:r>
            <a:r>
              <a:rPr lang="fr-CH" sz="1400" dirty="0" err="1"/>
              <a:t>indicates</a:t>
            </a:r>
            <a:r>
              <a:rPr lang="fr-CH" sz="1400" dirty="0"/>
              <a:t> the astrocyte </a:t>
            </a:r>
            <a:r>
              <a:rPr lang="fr-CH" sz="1400" dirty="0" err="1"/>
              <a:t>derived</a:t>
            </a:r>
            <a:r>
              <a:rPr lang="fr-CH" sz="1400" dirty="0"/>
              <a:t> </a:t>
            </a:r>
            <a:r>
              <a:rPr lang="fr-CH" sz="1400" dirty="0" err="1"/>
              <a:t>genes</a:t>
            </a:r>
            <a:r>
              <a:rPr lang="fr-CH" sz="1400" dirty="0"/>
              <a:t>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44100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reworks exploding in the dark&#10;&#10;Description automatically generated">
            <a:extLst>
              <a:ext uri="{FF2B5EF4-FFF2-40B4-BE49-F238E27FC236}">
                <a16:creationId xmlns:a16="http://schemas.microsoft.com/office/drawing/2014/main" id="{FA2974EC-4164-228B-A647-8F8654284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36" y="265108"/>
            <a:ext cx="12192000" cy="45905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C95547-BE1A-3068-DE09-24C4FB1F1E36}"/>
              </a:ext>
            </a:extLst>
          </p:cNvPr>
          <p:cNvSpPr txBox="1"/>
          <p:nvPr/>
        </p:nvSpPr>
        <p:spPr>
          <a:xfrm>
            <a:off x="736883" y="5596511"/>
            <a:ext cx="10773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/>
              <a:t>Microtubule hub </a:t>
            </a:r>
            <a:r>
              <a:rPr lang="fr-CH" sz="1400" dirty="0" err="1"/>
              <a:t>genes</a:t>
            </a:r>
            <a:r>
              <a:rPr lang="fr-CH" sz="1400" dirty="0"/>
              <a:t>. </a:t>
            </a:r>
            <a:r>
              <a:rPr lang="fr-CH" sz="1400" dirty="0" err="1"/>
              <a:t>Here</a:t>
            </a:r>
            <a:r>
              <a:rPr lang="fr-CH" sz="1400" dirty="0"/>
              <a:t> the big </a:t>
            </a:r>
            <a:r>
              <a:rPr lang="fr-CH" sz="1400" dirty="0" err="1"/>
              <a:t>circle</a:t>
            </a:r>
            <a:r>
              <a:rPr lang="fr-CH" sz="1400" dirty="0"/>
              <a:t> in green </a:t>
            </a:r>
            <a:r>
              <a:rPr lang="fr-CH" sz="1400" dirty="0" err="1"/>
              <a:t>indicate</a:t>
            </a:r>
            <a:r>
              <a:rPr lang="fr-CH" sz="1400" dirty="0"/>
              <a:t> the top 10 hub </a:t>
            </a:r>
            <a:r>
              <a:rPr lang="fr-CH" sz="1400" dirty="0" err="1"/>
              <a:t>genes</a:t>
            </a:r>
            <a:r>
              <a:rPr lang="fr-CH" sz="1400" dirty="0"/>
              <a:t>. The </a:t>
            </a:r>
            <a:r>
              <a:rPr lang="fr-CH" sz="1400" dirty="0" err="1"/>
              <a:t>ones</a:t>
            </a:r>
            <a:r>
              <a:rPr lang="fr-CH" sz="1400" dirty="0"/>
              <a:t> in the cyan </a:t>
            </a:r>
            <a:r>
              <a:rPr lang="fr-CH" sz="1400" dirty="0" err="1"/>
              <a:t>indicates</a:t>
            </a:r>
            <a:r>
              <a:rPr lang="fr-CH" sz="1400" dirty="0"/>
              <a:t> the neuronal </a:t>
            </a:r>
            <a:r>
              <a:rPr lang="fr-CH" sz="1400" dirty="0" err="1"/>
              <a:t>derived</a:t>
            </a:r>
            <a:r>
              <a:rPr lang="fr-CH" sz="1400" dirty="0"/>
              <a:t> </a:t>
            </a:r>
            <a:r>
              <a:rPr lang="fr-CH" sz="1400" dirty="0" err="1"/>
              <a:t>genes</a:t>
            </a:r>
            <a:r>
              <a:rPr lang="fr-CH" sz="1400" dirty="0"/>
              <a:t>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254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C5D3C4E-C1D5-1702-A717-1F9BAD9DA4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52966"/>
              </p:ext>
            </p:extLst>
          </p:nvPr>
        </p:nvGraphicFramePr>
        <p:xfrm>
          <a:off x="2247899" y="171708"/>
          <a:ext cx="6457435" cy="492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829287" imgH="4447903" progId="Acrobat.Document.DC">
                  <p:embed/>
                </p:oleObj>
              </mc:Choice>
              <mc:Fallback>
                <p:oleObj name="Acrobat Document" r:id="rId2" imgW="5829287" imgH="4447903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47899" y="171708"/>
                        <a:ext cx="6457435" cy="4927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B809317-A2DD-8F7C-67AD-977A5AE23513}"/>
              </a:ext>
            </a:extLst>
          </p:cNvPr>
          <p:cNvSpPr txBox="1"/>
          <p:nvPr/>
        </p:nvSpPr>
        <p:spPr>
          <a:xfrm>
            <a:off x="709282" y="5269057"/>
            <a:ext cx="10773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 err="1"/>
              <a:t>Correlation</a:t>
            </a:r>
            <a:r>
              <a:rPr lang="fr-CH" sz="1400" dirty="0"/>
              <a:t> of modules </a:t>
            </a:r>
            <a:r>
              <a:rPr lang="fr-CH" sz="1400" dirty="0" err="1"/>
              <a:t>with</a:t>
            </a:r>
            <a:r>
              <a:rPr lang="fr-CH" sz="1400" dirty="0"/>
              <a:t> </a:t>
            </a:r>
            <a:r>
              <a:rPr lang="fr-CH" sz="1400" dirty="0" err="1"/>
              <a:t>mitotimer</a:t>
            </a:r>
            <a:r>
              <a:rPr lang="fr-CH" sz="1400" dirty="0"/>
              <a:t>. </a:t>
            </a:r>
            <a:r>
              <a:rPr lang="fr-CH" sz="1400" dirty="0" err="1"/>
              <a:t>Mitochondria</a:t>
            </a:r>
            <a:r>
              <a:rPr lang="fr-CH" sz="1400" dirty="0"/>
              <a:t> module </a:t>
            </a:r>
            <a:r>
              <a:rPr lang="fr-CH" sz="1400" dirty="0" err="1"/>
              <a:t>negatively</a:t>
            </a:r>
            <a:r>
              <a:rPr lang="fr-CH" sz="1400" dirty="0"/>
              <a:t> </a:t>
            </a:r>
            <a:r>
              <a:rPr lang="fr-CH" sz="1400" dirty="0" err="1"/>
              <a:t>correlates</a:t>
            </a:r>
            <a:r>
              <a:rPr lang="fr-CH" sz="1400" dirty="0"/>
              <a:t> </a:t>
            </a:r>
            <a:r>
              <a:rPr lang="fr-CH" sz="1400" dirty="0" err="1"/>
              <a:t>with</a:t>
            </a:r>
            <a:r>
              <a:rPr lang="fr-CH" sz="1400" dirty="0"/>
              <a:t> the Ratio2-6h_D3 and the cation transport </a:t>
            </a:r>
            <a:r>
              <a:rPr lang="fr-CH" sz="1400" dirty="0" err="1"/>
              <a:t>positively</a:t>
            </a:r>
            <a:r>
              <a:rPr lang="fr-CH" sz="1400" dirty="0"/>
              <a:t> </a:t>
            </a:r>
            <a:r>
              <a:rPr lang="fr-CH" sz="1400" dirty="0" err="1"/>
              <a:t>correlates</a:t>
            </a:r>
            <a:r>
              <a:rPr lang="fr-CH" sz="1400" dirty="0"/>
              <a:t> </a:t>
            </a:r>
            <a:r>
              <a:rPr lang="fr-CH" sz="1400" dirty="0" err="1"/>
              <a:t>with</a:t>
            </a:r>
            <a:r>
              <a:rPr lang="fr-CH" sz="1400" dirty="0"/>
              <a:t> the Ratio2-6h_D2.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52055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Adobe 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Valentin Zufferey</dc:creator>
  <cp:lastModifiedBy>Valentin Zufferey</cp:lastModifiedBy>
  <cp:revision>1</cp:revision>
  <dcterms:created xsi:type="dcterms:W3CDTF">2023-12-05T09:05:08Z</dcterms:created>
  <dcterms:modified xsi:type="dcterms:W3CDTF">2023-12-05T09:35:22Z</dcterms:modified>
</cp:coreProperties>
</file>